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4" y="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F7515D-1F81-98A9-ADA7-8CF140AAF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4F3EB1F-B664-B97C-56E7-61F10DA80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84C00E-A219-8C5F-2E80-77DC437B3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5EF73-AA28-468C-A7FE-466166B9C60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5E0E0A-1546-9838-8FFD-FC494B23B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34C353-A77A-69CF-8603-581C4156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C165D-630F-4200-B43D-05750FC19D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933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9D9AA-22F1-0288-0AA7-5DF2CEEEF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E9FEF9-216B-D31C-2A71-AF6BA37DC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AEB515-CDA7-B039-1EF9-CCE1ADC95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5EF73-AA28-468C-A7FE-466166B9C60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9D3898-C32E-1B13-5889-171CD94F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0EC4F3-F15D-C57F-24CF-17A507FC5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C165D-630F-4200-B43D-05750FC19D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513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431967-AD55-BB63-3B4C-DE6617FFB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660C1C-53F4-DA6A-7C4F-9FE7ED587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85E99D-0219-AB67-5811-2B65AB976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5EF73-AA28-468C-A7FE-466166B9C60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967F26-CDFA-80CF-703D-7535A960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5BB9CD-B541-A7D0-1D36-0B6E5B311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C165D-630F-4200-B43D-05750FC19D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64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4ED93-AFEC-F107-70CB-8A6134019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986F35-8471-C9E0-F6F5-C8E832184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4BE4E40-5EAE-E2C3-CBE9-67A25B0DF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4222CD3-A5F6-3164-0876-71C21ADB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5EF73-AA28-468C-A7FE-466166B9C60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11EE2D-50A4-5CEA-F129-458C35B6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3F714D-1235-8AA0-1657-D25682BF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C165D-630F-4200-B43D-05750FC19D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377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87ACE-6AAB-887F-5411-616D0A7B1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6C9F18-D618-8257-27A9-605FEBA2B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204930-F416-EDA7-9DAD-829A38F2A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1B75FDA-B30D-8032-F18D-04FBA10BD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28E034B-9AF6-190E-DE6A-D5CE4DC75F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E382B54-77D2-1BD4-B9CC-E9FEFC0AE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5EF73-AA28-468C-A7FE-466166B9C60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5ACBDD7-88E7-D552-C13F-D86A02751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6D8C1A8-3988-34B8-B32A-21FBED403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C165D-630F-4200-B43D-05750FC19D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78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410C26-F614-490B-CF1B-F3EFA3BD0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9BA5337-59E2-D9BF-A142-54A20C029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5EF73-AA28-468C-A7FE-466166B9C60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2927AD4-0BA4-E3F9-A26C-1DD87A5D7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090D89-A275-9F3D-139D-8103BE71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C165D-630F-4200-B43D-05750FC19D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45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3F1AF86-CAE3-75A3-E8B7-E783CF894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5EF73-AA28-468C-A7FE-466166B9C60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BA1254A-93B2-B147-0C7C-85BB3B7F2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014F17-5E1B-50D2-3729-A0E1DCFAD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C165D-630F-4200-B43D-05750FC19D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34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EB159C-EDD3-6F75-AACA-447CBAA7E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BED967-96E8-C63F-8953-B65608489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990375-665E-68D9-C020-702AF97B1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E936AB-6A52-7961-9EE9-69BBC6232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5EF73-AA28-468C-A7FE-466166B9C60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C425D0-026C-89A5-B599-4E507308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DBC607-D732-9792-AF0A-51CCC1A9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C165D-630F-4200-B43D-05750FC19D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340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BAC492-836B-AF91-7C3A-0688A83B1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1BD16FC-135B-9A19-8542-0638FB7361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4263D0-A1BA-ADAE-A433-7020F9A71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94CF3B-37E8-E25E-0243-58FD94660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5EF73-AA28-468C-A7FE-466166B9C60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3F494F-7C99-3E17-0FA4-94D554C41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AEF1BD-3084-9734-6322-2F61171F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C165D-630F-4200-B43D-05750FC19D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4535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DFB248-7F70-AAA4-A870-CB328CFA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EC7E48-9681-B9CA-9517-BE8C8644E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F04181-4244-B172-7EB4-F7417CAA7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5EF73-AA28-468C-A7FE-466166B9C60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EAB7A3-04FD-A322-FC38-7CF26E79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AD2884-E65F-675F-5C11-B6F276DCC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C165D-630F-4200-B43D-05750FC19D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499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E58F994-2C15-B8CD-F139-4A20ABB07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0F93515-E132-238C-F369-E2E57DD38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60030A-FFDE-3D6A-110C-A05B271C5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5EF73-AA28-468C-A7FE-466166B9C60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33EE18-7C56-1203-224F-D8BB5E39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FA510A-A518-270A-E845-3FDCADD5E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C165D-630F-4200-B43D-05750FC19D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38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8586A-A1EC-6E67-5D3F-967938DC1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52DAC2-ECB9-D594-E85F-9F01D515E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A8388-F069-4DBA-5C5D-00458163B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5EF73-AA28-468C-A7FE-466166B9C60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56B172-329D-8B05-302D-8A81D9ECF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4FB92B-CFCF-61E4-AA46-0EEBD49EA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C165D-630F-4200-B43D-05750FC19D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3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1BE3CA-8B1B-F50A-107C-83B6C4819172}"/>
              </a:ext>
            </a:extLst>
          </p:cNvPr>
          <p:cNvSpPr txBox="1"/>
          <p:nvPr/>
        </p:nvSpPr>
        <p:spPr>
          <a:xfrm>
            <a:off x="1443990" y="2551837"/>
            <a:ext cx="93040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latin typeface="Gabriola" panose="04040605051002020D02" pitchFamily="82" charset="0"/>
              </a:rPr>
              <a:t>1712 г</a:t>
            </a:r>
          </a:p>
          <a:p>
            <a:pPr algn="ctr"/>
            <a:r>
              <a:rPr lang="ru-RU" sz="4400" b="1" dirty="0">
                <a:latin typeface="Gabriola" panose="04040605051002020D02" pitchFamily="82" charset="0"/>
              </a:rPr>
              <a:t>С.-ПЕТЕРГБУРГСК</a:t>
            </a:r>
            <a:r>
              <a:rPr lang="en-US" sz="4400" b="1" dirty="0">
                <a:latin typeface="Gabriola" panose="04040605051002020D02" pitchFamily="82" charset="0"/>
              </a:rPr>
              <a:t>I</a:t>
            </a:r>
            <a:r>
              <a:rPr lang="ru-RU" sz="4400" b="1" dirty="0">
                <a:latin typeface="Gabriola" panose="04040605051002020D02" pitchFamily="82" charset="0"/>
              </a:rPr>
              <a:t>Я ВЕМОСТИ</a:t>
            </a:r>
          </a:p>
          <a:p>
            <a:pPr algn="ctr"/>
            <a:r>
              <a:rPr lang="ru-RU" sz="2000" b="1" dirty="0">
                <a:latin typeface="Gabriola" panose="04040605051002020D02" pitchFamily="82" charset="0"/>
              </a:rPr>
              <a:t>ГАЗЕТА ПОЛИТИЧЕСКАЯ И ЛИТЕРАТУРНАЯ</a:t>
            </a:r>
          </a:p>
        </p:txBody>
      </p:sp>
    </p:spTree>
    <p:extLst>
      <p:ext uri="{BB962C8B-B14F-4D97-AF65-F5344CB8AC3E}">
        <p14:creationId xmlns:p14="http://schemas.microsoft.com/office/powerpoint/2010/main" val="3419042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DD643C-5DE9-7E33-5B9F-4F5FFA1E5F42}"/>
              </a:ext>
            </a:extLst>
          </p:cNvPr>
          <p:cNvSpPr txBox="1"/>
          <p:nvPr/>
        </p:nvSpPr>
        <p:spPr>
          <a:xfrm>
            <a:off x="6263641" y="3429000"/>
            <a:ext cx="30861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B ЗНАМЕНОВАНИЕ СЕЙ ВЕЛИКОЙ ПОБЕДЫ И ПРИРАЩЕНИЯ ЗЕМЕЛЬ, ПРАВИТЕЛЬСТВУЮЩИЙ CEHAT, ВСЕПОДДАННЕЙШЕ ПРОСЯ, УДОСТОИЛ ВЕЛИКОГО ГОСУДАРЯ НАШЕГО ТИТУЛОВ: «ОТЕЦ ОТЕЧЕСТВА, ИМПЕРАТОР ВСЕРОССИЙСКИЙ, ПЕТР ВЕЛИКИЙ». И ТАК, ПРЕСВЕТЛЕЙШЕЕ РОССИЙСКОЕ ЦАРСТВО ИМПЕРИЕЙ НАЗЫВАТЬСЯ ИМЕЕТ!</a:t>
            </a:r>
            <a:endParaRPr lang="ru-RU" b="1" dirty="0">
              <a:latin typeface="Gabriola" panose="04040605051002020D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5EA65-C927-6E30-5E6B-E867AA107E4B}"/>
              </a:ext>
            </a:extLst>
          </p:cNvPr>
          <p:cNvSpPr txBox="1"/>
          <p:nvPr/>
        </p:nvSpPr>
        <p:spPr>
          <a:xfrm>
            <a:off x="2034540" y="1021080"/>
            <a:ext cx="2628900" cy="1143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F92AB-1D25-4E16-BC4B-15971ADBEFE8}"/>
              </a:ext>
            </a:extLst>
          </p:cNvPr>
          <p:cNvSpPr txBox="1"/>
          <p:nvPr/>
        </p:nvSpPr>
        <p:spPr>
          <a:xfrm>
            <a:off x="4659630" y="218866"/>
            <a:ext cx="2872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i="0" dirty="0">
                <a:effectLst/>
                <a:latin typeface="Gabriola" panose="04040605051002020D02" pitchFamily="82" charset="0"/>
              </a:rPr>
              <a:t>ПЕРЕДОВИЦА</a:t>
            </a:r>
            <a:endParaRPr lang="ru-R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0F795-83B7-5C79-CD87-9EBF961C7A57}"/>
              </a:ext>
            </a:extLst>
          </p:cNvPr>
          <p:cNvSpPr txBox="1"/>
          <p:nvPr/>
        </p:nvSpPr>
        <p:spPr>
          <a:xfrm>
            <a:off x="243840" y="449698"/>
            <a:ext cx="3063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0" u="sng" dirty="0">
                <a:effectLst/>
                <a:latin typeface="Gabriola" panose="04040605051002020D02" pitchFamily="82" charset="0"/>
              </a:rPr>
              <a:t>ВЕЛИКАЯ И РАДОСТНАЯ ВЕСТЬ! </a:t>
            </a:r>
          </a:p>
          <a:p>
            <a:r>
              <a:rPr lang="ru-RU" sz="2000" b="1" i="0" u="sng" dirty="0">
                <a:effectLst/>
                <a:latin typeface="Gabriola" panose="04040605051002020D02" pitchFamily="82" charset="0"/>
              </a:rPr>
              <a:t>МИРЪ И ПОБЪДА!</a:t>
            </a:r>
            <a:endParaRPr lang="ru-RU" sz="2000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8FBAEE-729B-2966-FEA7-51DA838BEDC2}"/>
              </a:ext>
            </a:extLst>
          </p:cNvPr>
          <p:cNvSpPr txBox="1"/>
          <p:nvPr/>
        </p:nvSpPr>
        <p:spPr>
          <a:xfrm>
            <a:off x="209549" y="1238458"/>
            <a:ext cx="5513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О ПРЕСЛАВНОМЪ ЗАКЛЮЧЕНІИ ВЕЧНАГО МИРА СО ШВЕЦКОЮ КОРОНОЮ ВО ГРАДЕ НИШТАДТЕ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3D7F08-3A42-0121-80D1-5BAE2945EEC6}"/>
              </a:ext>
            </a:extLst>
          </p:cNvPr>
          <p:cNvSpPr txBox="1"/>
          <p:nvPr/>
        </p:nvSpPr>
        <p:spPr>
          <a:xfrm>
            <a:off x="106680" y="1837819"/>
            <a:ext cx="23317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Божьей милостью и великим нашего старанием </a:t>
            </a:r>
            <a:r>
              <a:rPr lang="ru-RU" b="1" i="0" dirty="0" err="1">
                <a:effectLst/>
                <a:latin typeface="Gabriola" panose="04040605051002020D02" pitchFamily="82" charset="0"/>
              </a:rPr>
              <a:t>Всесветлейшего</a:t>
            </a:r>
            <a:r>
              <a:rPr lang="ru-RU" b="1" i="0" dirty="0">
                <a:effectLst/>
                <a:latin typeface="Gabriola" panose="04040605051002020D02" pitchFamily="82" charset="0"/>
              </a:rPr>
              <a:t> Государя, царя Петра Алексеевича, </a:t>
            </a:r>
            <a:r>
              <a:rPr lang="ru-RU" b="1" i="0" dirty="0" err="1">
                <a:effectLst/>
                <a:latin typeface="Gabriola" panose="04040605051002020D02" pitchFamily="82" charset="0"/>
              </a:rPr>
              <a:t>ero</a:t>
            </a:r>
            <a:r>
              <a:rPr lang="ru-RU" b="1" i="0" dirty="0">
                <a:effectLst/>
                <a:latin typeface="Gabriola" panose="04040605051002020D02" pitchFamily="82" charset="0"/>
              </a:rPr>
              <a:t> державная рука, силой и мужеством воинства русского, долголетнюю войну, двадцать лет и более продолжавшуюся, к желанному концу привела.</a:t>
            </a:r>
            <a:endParaRPr lang="ru-RU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0CD61F-FE24-4C5A-38AE-22EE30378280}"/>
              </a:ext>
            </a:extLst>
          </p:cNvPr>
          <p:cNvSpPr txBox="1"/>
          <p:nvPr/>
        </p:nvSpPr>
        <p:spPr>
          <a:xfrm>
            <a:off x="2640329" y="1848505"/>
            <a:ext cx="27165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Августа в 30-й день, по благословению Божьему, в финском городе </a:t>
            </a:r>
            <a:r>
              <a:rPr lang="ru-RU" b="1" i="0" dirty="0" err="1">
                <a:effectLst/>
                <a:latin typeface="Gabriola" panose="04040605051002020D02" pitchFamily="82" charset="0"/>
              </a:rPr>
              <a:t>Ништадте</a:t>
            </a:r>
            <a:r>
              <a:rPr lang="ru-RU" b="1" i="0" dirty="0">
                <a:effectLst/>
                <a:latin typeface="Gabriola" panose="04040605051002020D02" pitchFamily="82" charset="0"/>
              </a:rPr>
              <a:t> подписан мирный Договор между Российским Царством и Швецией, которым вражда прекращается навеки.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65FA87-E448-6CAA-AD45-48F716396DF8}"/>
              </a:ext>
            </a:extLst>
          </p:cNvPr>
          <p:cNvSpPr txBox="1"/>
          <p:nvPr/>
        </p:nvSpPr>
        <p:spPr>
          <a:xfrm>
            <a:off x="6263640" y="1157584"/>
            <a:ext cx="5684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ПО ВОЛЕ ГОСПОДА И СИЛОЮ ОРУЖИЯ РОССИЙСКОГО, ПРИСОЕДИНЕНЫ К ВЕЛИКОЙ РОССИИ НА ВЕЧНЫЕ ВРЕМЕНА СЛЕДУЮЩИЕ ЗЕМЛИ И ГОРОДА: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Провинция ИНГРИЯ (Ижорская земля)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Провинция ЛИФЛЯНДИЯ со всеми её городами и гаванями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Провинция ЭСТЛЯНДИЯ со всеми ее городами и гаванями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Часть КАРЕЛИИ и иные земли</a:t>
            </a:r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5E2D16CF-9908-56EC-BD37-50B9D459DECF}"/>
              </a:ext>
            </a:extLst>
          </p:cNvPr>
          <p:cNvCxnSpPr/>
          <p:nvPr/>
        </p:nvCxnSpPr>
        <p:spPr>
          <a:xfrm>
            <a:off x="2438400" y="2004060"/>
            <a:ext cx="0" cy="25755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187900FD-50DE-7E42-8AD1-775259F25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660428"/>
            <a:ext cx="2331720" cy="191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952AC2ED-7366-E7B6-015F-229C17AC71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7"/>
          <a:stretch/>
        </p:blipFill>
        <p:spPr bwMode="auto">
          <a:xfrm>
            <a:off x="9349740" y="3429000"/>
            <a:ext cx="2785285" cy="314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294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309777-DC16-2AC1-E072-164F0B0D56DC}"/>
              </a:ext>
            </a:extLst>
          </p:cNvPr>
          <p:cNvSpPr txBox="1"/>
          <p:nvPr/>
        </p:nvSpPr>
        <p:spPr>
          <a:xfrm>
            <a:off x="4480560" y="167640"/>
            <a:ext cx="3116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i="0" dirty="0">
                <a:effectLst/>
                <a:latin typeface="Gabriola" panose="04040605051002020D02" pitchFamily="82" charset="0"/>
              </a:rPr>
              <a:t>ПЕРЕДОВИЦА</a:t>
            </a:r>
            <a:endParaRPr lang="ru-RU" sz="2400" b="1" dirty="0">
              <a:latin typeface="Gabriola" panose="04040605051002020D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830BEB-FEBA-7F40-0A6A-D362ADBB2102}"/>
              </a:ext>
            </a:extLst>
          </p:cNvPr>
          <p:cNvSpPr txBox="1"/>
          <p:nvPr/>
        </p:nvSpPr>
        <p:spPr>
          <a:xfrm>
            <a:off x="243840" y="890915"/>
            <a:ext cx="55016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BOT КОЛЛЕГИИ, КОТОРЫЕ УЖЕ УЧРЕДИЛИСЬ: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КОЛЛЕГИЯ ИНОСТРАННЫХ ДЕЛ </a:t>
            </a:r>
            <a:r>
              <a:rPr lang="ru-RU" b="1" dirty="0">
                <a:latin typeface="Gabriola" panose="04040605051002020D02" pitchFamily="82" charset="0"/>
              </a:rPr>
              <a:t>– для </a:t>
            </a:r>
            <a:r>
              <a:rPr lang="ru-RU" b="1" i="0" dirty="0">
                <a:effectLst/>
                <a:latin typeface="Gabriola" panose="04040605051002020D02" pitchFamily="82" charset="0"/>
              </a:rPr>
              <a:t>управления посольскими делами соседними отношений C государствами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ВОЕННАЯ КОЛЛЕГИЯ - для управления сухопутными войсками и всеми военными делами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АДМИРАЛТЕЙСКАЯ КОЛЛЕГИЯ - для флота и морского управления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КАМЕР-КОЛЛЕГИЯ - для надзора за государственными доходами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ШТАТС-КОНТОР КОЛЛЕГИЯ - для управления государственными расходами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РЕВИЗИОН-КОЛЛЕГИЯ - для учёта всех государственных доходов и расходов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БЕРГ-КОЛЛЕГИЯ - для горного дела и рудных заводов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МАНУФАКТУР-КОЛЛЕГИЯ –-для фабрик и всякого ремесла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КОММЕРЦ-КОЛЛЕГИЯ - для торговли и купеческих дел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ЮСТИЦ-КОЛЛЕГИЯ - для судебных и сыскных дел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ВОТЧИННАЯ КОЛЛЕГИЯ - для земельных дел и поместий</a:t>
            </a:r>
            <a:endParaRPr lang="ru-RU" b="1" dirty="0">
              <a:latin typeface="Gabriola" panose="04040605051002020D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06D546-1FFF-07A7-6C61-BCE8C42E7F51}"/>
              </a:ext>
            </a:extLst>
          </p:cNvPr>
          <p:cNvSpPr txBox="1"/>
          <p:nvPr/>
        </p:nvSpPr>
        <p:spPr>
          <a:xfrm>
            <a:off x="243840" y="429250"/>
            <a:ext cx="4777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0" u="sng" dirty="0">
                <a:effectLst/>
                <a:latin typeface="Gabriola" panose="04040605051002020D02" pitchFamily="82" charset="0"/>
              </a:rPr>
              <a:t>НОВЫЙ ПОРЯДОКЪ ВЪ УПРАВЛЕНІИ ДЕРЖАВОЮ</a:t>
            </a:r>
            <a:endParaRPr lang="ru-RU" sz="2000" b="1" u="sng" dirty="0">
              <a:latin typeface="Gabriola" panose="04040605051002020D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D7CFE-2AF2-49E3-39E8-AC595CB1028F}"/>
              </a:ext>
            </a:extLst>
          </p:cNvPr>
          <p:cNvSpPr txBox="1"/>
          <p:nvPr/>
        </p:nvSpPr>
        <p:spPr>
          <a:xfrm>
            <a:off x="6096000" y="629305"/>
            <a:ext cx="585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О УЧРЕЖДЕНІИ КОЛЛЕГІЙ ВМЕСТО ПРИКАЗОВЪ СТАРОГО ЧИНА</a:t>
            </a:r>
            <a:endParaRPr lang="ru-RU" b="1" dirty="0">
              <a:latin typeface="Gabriola" panose="04040605051002020D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AF7EE1-9774-2A63-C067-A636BB171CB9}"/>
              </a:ext>
            </a:extLst>
          </p:cNvPr>
          <p:cNvSpPr txBox="1"/>
          <p:nvPr/>
        </p:nvSpPr>
        <p:spPr>
          <a:xfrm>
            <a:off x="6031230" y="1082576"/>
            <a:ext cx="26441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Божьей милостью и мудрым попечением нашего </a:t>
            </a:r>
            <a:r>
              <a:rPr lang="ru-RU" b="1" i="0" dirty="0" err="1">
                <a:effectLst/>
                <a:latin typeface="Gabriola" panose="04040605051002020D02" pitchFamily="82" charset="0"/>
              </a:rPr>
              <a:t>Всесветлейшего</a:t>
            </a:r>
            <a:r>
              <a:rPr lang="ru-RU" b="1" i="0" dirty="0">
                <a:effectLst/>
                <a:latin typeface="Gabriola" panose="04040605051002020D02" pitchFamily="82" charset="0"/>
              </a:rPr>
              <a:t> Государя, царя Петра Алексеевича, Всероссийского Самодержца, совершено великое в преобразование делах государственного управления.</a:t>
            </a:r>
            <a:endParaRPr lang="ru-RU" b="1" dirty="0">
              <a:latin typeface="Gabriola" panose="04040605051002020D02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F9C8A-80DB-366C-FFD5-DA8E3F20FA37}"/>
              </a:ext>
            </a:extLst>
          </p:cNvPr>
          <p:cNvSpPr txBox="1"/>
          <p:nvPr/>
        </p:nvSpPr>
        <p:spPr>
          <a:xfrm>
            <a:off x="8961120" y="1082576"/>
            <a:ext cx="3124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Отныне упразднились Московские приказы, где воеводы и дьяки единолично вершили дела, часто с большой медлительностью и учредились КОЛЛЕГИИ -неправдой. Вместо них правительственные собрания, где каждое единому уставу и по дело решается коллективно, по совести.</a:t>
            </a:r>
            <a:endParaRPr lang="ru-RU" b="1" dirty="0">
              <a:latin typeface="Gabriola" panose="04040605051002020D02" pitchFamily="82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0C086210-3293-97C0-7B4F-57AA2C3F955B}"/>
              </a:ext>
            </a:extLst>
          </p:cNvPr>
          <p:cNvCxnSpPr/>
          <p:nvPr/>
        </p:nvCxnSpPr>
        <p:spPr>
          <a:xfrm>
            <a:off x="8587740" y="1082576"/>
            <a:ext cx="0" cy="25597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339988B-C370-0528-13B3-C38490047117}"/>
              </a:ext>
            </a:extLst>
          </p:cNvPr>
          <p:cNvSpPr txBox="1"/>
          <p:nvPr/>
        </p:nvSpPr>
        <p:spPr>
          <a:xfrm>
            <a:off x="6031230" y="3726299"/>
            <a:ext cx="58521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B КАЖДОЙ КОЛЛЕГИИ ПРЕЗИДЕНТ, ВИЦЕ-ПРЕЗИДЕНТ, ЧЕТЫРЕ СОВЕТНИКА И ЧЕТЫРЕ ACCECCOPA ВМЕСТЕ РЕШАЮТ ДЕЛА ПО ОПРЕДЕЛЕННОМУ РЕГЛАМЕНТУ, НА ОСНОВАНИИ ПРАВДЫ И ЗАКОНА, А НЕ ПО ПРОИЗВОЛУ. </a:t>
            </a:r>
          </a:p>
          <a:p>
            <a:endParaRPr lang="ru-RU" b="1" i="0" dirty="0">
              <a:effectLst/>
              <a:latin typeface="Gabriola" panose="04040605051002020D02" pitchFamily="82" charset="0"/>
            </a:endParaRPr>
          </a:p>
          <a:p>
            <a:r>
              <a:rPr lang="ru-RU" b="1" i="0" dirty="0">
                <a:effectLst/>
                <a:latin typeface="Gabriola" panose="04040605051002020D02" pitchFamily="82" charset="0"/>
              </a:rPr>
              <a:t>ЭТИМ УЧРЕЖДЕНИЕМ УСТАНАВЛИВАЕТСЯ ЕДИНООБРАЗИЕ В УПРАВЛЕНИИ, УНИЧТОЖАЕТСЯ МЕДЛИТЕЛЬНОСТЬ И ВЗЯТОЧНИЧЕСТВО, И КАЖДОЕ ДЕЛО ВЕРШИТСЯ СОГЛАСНО УСТАВУ, КАК В ПРОСВЕЩЕННЫХ ЕВРОПЕЙСКИХ ДЕРЖАВАХ</a:t>
            </a:r>
            <a:endParaRPr lang="ru-RU" b="1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16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8591F7-F75D-23E7-9861-D5E0BBB04FD7}"/>
              </a:ext>
            </a:extLst>
          </p:cNvPr>
          <p:cNvSpPr txBox="1"/>
          <p:nvPr/>
        </p:nvSpPr>
        <p:spPr>
          <a:xfrm>
            <a:off x="4179570" y="22860"/>
            <a:ext cx="3832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i="0" dirty="0">
                <a:effectLst/>
                <a:latin typeface="Gabriola" panose="04040605051002020D02" pitchFamily="82" charset="0"/>
              </a:rPr>
              <a:t>ПЕРЕДОВИЦА</a:t>
            </a:r>
            <a:endParaRPr lang="ru-RU" sz="2400" b="1" dirty="0">
              <a:latin typeface="Gabriola" panose="04040605051002020D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9BEC1A-4A43-3CC7-C770-FBF95269DC4F}"/>
              </a:ext>
            </a:extLst>
          </p:cNvPr>
          <p:cNvSpPr txBox="1"/>
          <p:nvPr/>
        </p:nvSpPr>
        <p:spPr>
          <a:xfrm>
            <a:off x="335280" y="284470"/>
            <a:ext cx="4457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0" u="sng" dirty="0">
                <a:effectLst/>
                <a:latin typeface="Gabriola" panose="04040605051002020D02" pitchFamily="82" charset="0"/>
              </a:rPr>
              <a:t>НОВОЕ УСТРОЙСТВО ЦЕРКОВНАГО УПРАВЛЕНІЯ</a:t>
            </a:r>
            <a:endParaRPr lang="ru-RU" sz="2000" b="1" u="sng" dirty="0">
              <a:latin typeface="Gabriola" panose="04040605051002020D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33DC4D-ED91-4CAA-0193-B5E131854F6A}"/>
              </a:ext>
            </a:extLst>
          </p:cNvPr>
          <p:cNvSpPr txBox="1"/>
          <p:nvPr/>
        </p:nvSpPr>
        <p:spPr>
          <a:xfrm>
            <a:off x="266700" y="1446431"/>
            <a:ext cx="25527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Божьей милостью и державной волей нашего </a:t>
            </a:r>
            <a:r>
              <a:rPr lang="ru-RU" b="1" i="0" dirty="0" err="1">
                <a:effectLst/>
                <a:latin typeface="Gabriola" panose="04040605051002020D02" pitchFamily="82" charset="0"/>
              </a:rPr>
              <a:t>Всесветлейшего</a:t>
            </a:r>
            <a:r>
              <a:rPr lang="ru-RU" b="1" i="0" dirty="0">
                <a:effectLst/>
                <a:latin typeface="Gabriola" panose="04040605051002020D02" pitchFamily="82" charset="0"/>
              </a:rPr>
              <a:t> Великого Государя, Петра Алексеевича, Императора Всероссийского, совершено B преобразование управлении делами церковными.</a:t>
            </a:r>
            <a:endParaRPr lang="ru-RU" b="1" dirty="0">
              <a:latin typeface="Gabriola" panose="04040605051002020D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342C6F-BFB3-4A38-67BE-A3CE15175495}"/>
              </a:ext>
            </a:extLst>
          </p:cNvPr>
          <p:cNvSpPr txBox="1"/>
          <p:nvPr/>
        </p:nvSpPr>
        <p:spPr>
          <a:xfrm>
            <a:off x="3021330" y="1446431"/>
            <a:ext cx="26708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Отныне упраздняется патриаршество, вместо единоличного правления патриаршего учреждается духовная коллегия, ныне именуемая святейшим правительствующим синодом.</a:t>
            </a:r>
            <a:endParaRPr lang="ru-RU" b="1" dirty="0">
              <a:latin typeface="Gabriola" panose="04040605051002020D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94A46A-87E0-2597-C04F-6DC48DABD1A3}"/>
              </a:ext>
            </a:extLst>
          </p:cNvPr>
          <p:cNvSpPr txBox="1"/>
          <p:nvPr/>
        </p:nvSpPr>
        <p:spPr>
          <a:xfrm>
            <a:off x="-129540" y="800100"/>
            <a:ext cx="5509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i="0" dirty="0">
                <a:effectLst/>
                <a:latin typeface="Gabriola" panose="04040605051002020D02" pitchFamily="82" charset="0"/>
              </a:rPr>
              <a:t>О УЧРЕЖДЕНІИ ДУХОВНОЙ КОЛЛЕГІИ И УПРАЗДНЕНІИ ПАТРІАРШЕСТВА</a:t>
            </a:r>
            <a:endParaRPr lang="ru-RU" b="1" dirty="0">
              <a:latin typeface="Gabriola" panose="04040605051002020D02" pitchFamily="82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716F280-3E7B-EBA7-502C-7DF2A90DFD06}"/>
              </a:ext>
            </a:extLst>
          </p:cNvPr>
          <p:cNvCxnSpPr/>
          <p:nvPr/>
        </p:nvCxnSpPr>
        <p:spPr>
          <a:xfrm>
            <a:off x="2819400" y="1516380"/>
            <a:ext cx="0" cy="19613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6564045-BD14-D94E-790A-E0255D7E8C56}"/>
              </a:ext>
            </a:extLst>
          </p:cNvPr>
          <p:cNvSpPr txBox="1"/>
          <p:nvPr/>
        </p:nvSpPr>
        <p:spPr>
          <a:xfrm>
            <a:off x="6096000" y="541020"/>
            <a:ext cx="52730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ВОТ ОСНОВНЫЕ УСТАНОВЛЕНИЯ: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BCE ЦЕРКОВНЫЕ ДЕЛА отныне решаются соборным рассуждением СИНОДУ ПОДВЛАСТНЫ все духовные лица, от митрополита до простого священника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УПРАВЛЕНИЕ ЦЕРКОВНЫМИ ИМУЩЕСТВАМИ отныне осуществляется уставу по государеву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Gabriola" panose="04040605051002020D02" pitchFamily="82" charset="0"/>
              </a:rPr>
              <a:t>СУД </a:t>
            </a:r>
            <a:r>
              <a:rPr lang="ru-RU" b="1" i="0" dirty="0">
                <a:effectLst/>
                <a:latin typeface="Gabriola" panose="04040605051002020D02" pitchFamily="82" charset="0"/>
              </a:rPr>
              <a:t>НАД  ДУХОВЕНСТВОМ производится по установленным регламентам </a:t>
            </a:r>
          </a:p>
          <a:p>
            <a:r>
              <a:rPr lang="ru-RU" b="1" i="0" dirty="0">
                <a:effectLst/>
                <a:latin typeface="Gabriola" panose="04040605051002020D02" pitchFamily="82" charset="0"/>
              </a:rPr>
              <a:t>В СОСТАВ СИНОДА ВОЙДУТ: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ПРЕЗИДЕНТ – из архиереев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ДВА ВИЦЕ-ПРЕЗИДЕНТΑ – равным чином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ЧЕТЫРЕ СОВЕТНИКА из архимандритов и иеромонахов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Gabriola" panose="04040605051002020D02" pitchFamily="82" charset="0"/>
              </a:rPr>
              <a:t>ЧЕТЫРЕ ACCECCOPA из белого духовенства</a:t>
            </a:r>
            <a:endParaRPr lang="ru-RU" b="1" dirty="0">
              <a:latin typeface="Gabriola" panose="04040605051002020D02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7B875-1285-9EC1-887C-C96F93F182F9}"/>
              </a:ext>
            </a:extLst>
          </p:cNvPr>
          <p:cNvSpPr txBox="1"/>
          <p:nvPr/>
        </p:nvSpPr>
        <p:spPr>
          <a:xfrm>
            <a:off x="6096000" y="4836318"/>
            <a:ext cx="54635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Gabriola" panose="04040605051002020D02" pitchFamily="82" charset="0"/>
              </a:rPr>
              <a:t>Э</a:t>
            </a:r>
            <a:r>
              <a:rPr lang="ru-RU" b="1" i="0" dirty="0">
                <a:effectLst/>
                <a:latin typeface="Gabriola" panose="04040605051002020D02" pitchFamily="82" charset="0"/>
              </a:rPr>
              <a:t>тим учреждением устанавливается: порядок b церковном управлении единообразие в решении дел духовных пресечение своеволия и непотребных распрей согласие между властью духовной и светской</a:t>
            </a:r>
            <a:endParaRPr lang="ru-RU" b="1" dirty="0">
              <a:latin typeface="Gabriola" panose="04040605051002020D02" pitchFamily="82" charset="0"/>
            </a:endParaRPr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67720AD7-9C3C-65FF-CD04-90DDA28E5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43" y="3592119"/>
            <a:ext cx="3991607" cy="298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931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FF0598-851B-19AB-5777-626074D883DF}"/>
              </a:ext>
            </a:extLst>
          </p:cNvPr>
          <p:cNvSpPr txBox="1"/>
          <p:nvPr/>
        </p:nvSpPr>
        <p:spPr>
          <a:xfrm>
            <a:off x="3615690" y="0"/>
            <a:ext cx="4960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i="0" dirty="0">
                <a:effectLst/>
                <a:latin typeface="Gabriola" panose="04040605051002020D02" pitchFamily="82" charset="0"/>
              </a:rPr>
              <a:t>ПОЛИТИЧЕСКИ ПАМФЛЕТ</a:t>
            </a:r>
            <a:endParaRPr lang="ru-RU" sz="2400" b="1" dirty="0">
              <a:latin typeface="Gabriola" panose="04040605051002020D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1E3FB4-5CA9-F3B1-4B12-678A23D507D3}"/>
              </a:ext>
            </a:extLst>
          </p:cNvPr>
          <p:cNvSpPr txBox="1"/>
          <p:nvPr/>
        </p:nvSpPr>
        <p:spPr>
          <a:xfrm>
            <a:off x="335280" y="230832"/>
            <a:ext cx="4389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0" u="sng" dirty="0">
                <a:effectLst/>
                <a:latin typeface="Gabriola" panose="04040605051002020D02" pitchFamily="82" charset="0"/>
              </a:rPr>
              <a:t>ГОДЪ ВЕЛИКАГО ПЕРЕЛОМА </a:t>
            </a:r>
            <a:endParaRPr lang="en-US" sz="2000" b="1" i="0" u="sng" dirty="0">
              <a:effectLst/>
              <a:latin typeface="Gabriola" panose="04040605051002020D02" pitchFamily="82" charset="0"/>
            </a:endParaRPr>
          </a:p>
          <a:p>
            <a:r>
              <a:rPr lang="ru-RU" sz="2000" b="1" i="0" u="sng" dirty="0">
                <a:effectLst/>
                <a:latin typeface="Gabriola" panose="04040605051002020D02" pitchFamily="82" charset="0"/>
              </a:rPr>
              <a:t>КАКО ЦАРЬ СТАЛЪ ИМПЕРАТОРОМЪ, </a:t>
            </a:r>
            <a:endParaRPr lang="en-US" sz="2000" b="1" i="0" u="sng" dirty="0">
              <a:effectLst/>
              <a:latin typeface="Gabriola" panose="04040605051002020D02" pitchFamily="82" charset="0"/>
            </a:endParaRPr>
          </a:p>
          <a:p>
            <a:r>
              <a:rPr lang="ru-RU" sz="2000" b="1" i="0" u="sng" dirty="0">
                <a:effectLst/>
                <a:latin typeface="Gabriola" panose="04040605051002020D02" pitchFamily="82" charset="0"/>
              </a:rPr>
              <a:t>А РОССІЯ - ИМПЕРІЕЙ БЕЗЪ ВОЛИ НАРОДНОЙ</a:t>
            </a:r>
            <a:endParaRPr lang="ru-RU" sz="2000" b="1" u="sng" dirty="0">
              <a:latin typeface="Gabriola" panose="04040605051002020D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ED03D9-9CA3-6081-EDFC-F7DF3CA072FE}"/>
              </a:ext>
            </a:extLst>
          </p:cNvPr>
          <p:cNvSpPr txBox="1"/>
          <p:nvPr/>
        </p:nvSpPr>
        <p:spPr>
          <a:xfrm>
            <a:off x="6172200" y="458510"/>
            <a:ext cx="589026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О МИРЪ, КОТОРЫЙ НЕ МИРЕНЪ </a:t>
            </a:r>
            <a:endParaRPr lang="en-US" b="1" i="0" dirty="0">
              <a:effectLst/>
              <a:latin typeface="Gabriola" panose="04040605051002020D02" pitchFamily="82" charset="0"/>
            </a:endParaRPr>
          </a:p>
          <a:p>
            <a:r>
              <a:rPr lang="ru-RU" b="1" i="0" dirty="0">
                <a:effectLst/>
                <a:latin typeface="Gabriola" panose="04040605051002020D02" pitchFamily="82" charset="0"/>
              </a:rPr>
              <a:t>Провозглашают нам «вечный мир» со Швецией, а по сути вечное рабство внутри страны. да, отобрали мы у шведов земли прибалтийские, но не свободу же себе вернули! Двадцать лет войны истощили казну, положили сотни тысяч крестьян да солдат, а кто спрашивал их, хотят ли они славы императорской? Теперь, вместо того чтобы дать передышку измученному народу, вводят новые подати на содержание флота и коллегий. </a:t>
            </a:r>
          </a:p>
          <a:p>
            <a:endParaRPr lang="en-US" b="1" i="0" dirty="0">
              <a:effectLst/>
              <a:latin typeface="Gabriola" panose="04040605051002020D02" pitchFamily="82" charset="0"/>
            </a:endParaRPr>
          </a:p>
          <a:p>
            <a:r>
              <a:rPr lang="ru-RU" b="1" i="0" dirty="0">
                <a:effectLst/>
                <a:latin typeface="Gabriola" panose="04040605051002020D02" pitchFamily="82" charset="0"/>
              </a:rPr>
              <a:t>О ЦЕРКВИ, КОТОРАЯ СТАЛА ПРИКАЗОМЪ</a:t>
            </a:r>
          </a:p>
          <a:p>
            <a:r>
              <a:rPr lang="ru-RU" b="1" i="0" dirty="0">
                <a:effectLst/>
                <a:latin typeface="Gabriola" panose="04040605051002020D02" pitchFamily="82" charset="0"/>
              </a:rPr>
              <a:t> Упразднили патриаршество последний голос, что мог дерзнуть сказать правду власти. Вместо пастыря духовного «Духовная коллегия», чиновники в рясах, назначаемые самим государем. Отныне Церковь a не невеста Христова, служанка императорской власти. Спросили ли они у Бога, угодно ли Ему такое устройство? Нет, ибо «регламент» для них выше Евангелия. </a:t>
            </a:r>
          </a:p>
          <a:p>
            <a:endParaRPr lang="ru-RU" b="1" i="0" dirty="0">
              <a:effectLst/>
              <a:latin typeface="Gabriola" panose="04040605051002020D02" pitchFamily="82" charset="0"/>
            </a:endParaRPr>
          </a:p>
          <a:p>
            <a:r>
              <a:rPr lang="ru-RU" b="1" i="0" dirty="0">
                <a:effectLst/>
                <a:latin typeface="Gabriola" panose="04040605051002020D02" pitchFamily="82" charset="0"/>
              </a:rPr>
              <a:t>О КОЛЛЕГІЯХЪ, </a:t>
            </a:r>
            <a:r>
              <a:rPr lang="ru-RU" b="1" dirty="0">
                <a:latin typeface="Gabriola" panose="04040605051002020D02" pitchFamily="82" charset="0"/>
              </a:rPr>
              <a:t>ГДЕ ВСЕ</a:t>
            </a:r>
            <a:r>
              <a:rPr lang="ru-RU" b="1" i="0" dirty="0">
                <a:effectLst/>
                <a:latin typeface="Gabriola" panose="04040605051002020D02" pitchFamily="82" charset="0"/>
              </a:rPr>
              <a:t> РЕШАЕТСЯ, НО НИЧЕГО НЕ МЕНЯЕТСЯ </a:t>
            </a:r>
          </a:p>
          <a:p>
            <a:r>
              <a:rPr lang="ru-RU" b="1" i="0" dirty="0">
                <a:effectLst/>
                <a:latin typeface="Gabriola" panose="04040605051002020D02" pitchFamily="82" charset="0"/>
              </a:rPr>
              <a:t>Создали коллегии вместо приказов. Говорят: «коллегиальное решение», «единый устав». А на деле новая бюрократическая машина, где асессоры и советники, не видя нужд народных, пишут бумаги друг для друга. И каждый президент коллегии не слуга Отечества, а слуга того, кто его поставил. Свободы от произвола не прибавилось лишь прибавилось ведомств.</a:t>
            </a:r>
            <a:endParaRPr lang="ru-RU" b="1" dirty="0">
              <a:latin typeface="Gabriola" panose="04040605051002020D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B6BAF-EDC3-8432-11A0-9043AD99392C}"/>
              </a:ext>
            </a:extLst>
          </p:cNvPr>
          <p:cNvSpPr txBox="1"/>
          <p:nvPr/>
        </p:nvSpPr>
        <p:spPr>
          <a:xfrm>
            <a:off x="335280" y="1546860"/>
            <a:ext cx="47015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ЗАКЛЮЧЕНІЕ </a:t>
            </a:r>
          </a:p>
          <a:p>
            <a:r>
              <a:rPr lang="ru-RU" b="1" i="0" dirty="0">
                <a:effectLst/>
                <a:latin typeface="Gabriola" panose="04040605051002020D02" pitchFamily="82" charset="0"/>
              </a:rPr>
              <a:t>1721 год это не год триумфа России. Это год триумфа одной воли над судьбами миллионов. Мы получили море, но потеряли последние островки свободы. Мы стали империей, но перестали быть обществом. И пока звонят колокола в честь нового императора, простой народ молча платит за эту славу костьми, потом и последней копейкой.</a:t>
            </a:r>
            <a:endParaRPr lang="ru-RU" b="1" dirty="0">
              <a:latin typeface="Gabriola" panose="04040605051002020D02" pitchFamily="82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E60CDFA-6AEF-804F-FA6B-2EFE83212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09" y="3578185"/>
            <a:ext cx="3769482" cy="314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916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3444C4-51B3-3B56-C64B-0E2BD31422E1}"/>
              </a:ext>
            </a:extLst>
          </p:cNvPr>
          <p:cNvSpPr txBox="1"/>
          <p:nvPr/>
        </p:nvSpPr>
        <p:spPr>
          <a:xfrm>
            <a:off x="2804160" y="0"/>
            <a:ext cx="6835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i="0" dirty="0">
                <a:effectLst/>
                <a:latin typeface="Gabriola" panose="04040605051002020D02" pitchFamily="82" charset="0"/>
              </a:rPr>
              <a:t>ОБЪЯВЛЕНІЯ КАЗЕННЫЯ И ПАРТИКУЛЯРНЫЕ</a:t>
            </a:r>
            <a:endParaRPr lang="ru-RU" sz="2400" b="1" dirty="0">
              <a:latin typeface="Gabriola" panose="04040605051002020D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18B57-B0A1-72FF-F4DB-4950529BDC14}"/>
              </a:ext>
            </a:extLst>
          </p:cNvPr>
          <p:cNvSpPr txBox="1"/>
          <p:nvPr/>
        </p:nvSpPr>
        <p:spPr>
          <a:xfrm>
            <a:off x="4800600" y="461665"/>
            <a:ext cx="2354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0" dirty="0">
                <a:effectLst/>
                <a:latin typeface="Gabriola" panose="04040605051002020D02" pitchFamily="82" charset="0"/>
              </a:rPr>
              <a:t>ВАЖЬНЪ</a:t>
            </a:r>
            <a:endParaRPr lang="ru-RU" sz="2000" b="1" dirty="0">
              <a:latin typeface="Gabriola" panose="04040605051002020D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42D01-1B69-CCBB-8144-9F97529A48D1}"/>
              </a:ext>
            </a:extLst>
          </p:cNvPr>
          <p:cNvSpPr txBox="1"/>
          <p:nvPr/>
        </p:nvSpPr>
        <p:spPr>
          <a:xfrm>
            <a:off x="495300" y="861775"/>
            <a:ext cx="4693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О ПРИСЪГЪ ЧИНОВНИКОВЪ </a:t>
            </a:r>
          </a:p>
          <a:p>
            <a:r>
              <a:rPr lang="ru-RU" b="1" i="0" dirty="0" err="1">
                <a:effectLst/>
                <a:latin typeface="Gabriola" panose="04040605051002020D02" pitchFamily="82" charset="0"/>
              </a:rPr>
              <a:t>Bce</a:t>
            </a:r>
            <a:r>
              <a:rPr lang="ru-RU" b="1" i="0" dirty="0">
                <a:effectLst/>
                <a:latin typeface="Gabriola" panose="04040605051002020D02" pitchFamily="82" charset="0"/>
              </a:rPr>
              <a:t> служащие b коллегиях и канцеляриях обязуются принести присягу на верность духовному регламенту. Присяга совершается в присутствии президентов коллегий.</a:t>
            </a:r>
            <a:endParaRPr lang="ru-RU" b="1" dirty="0">
              <a:latin typeface="Gabriola" panose="04040605051002020D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D7CC68-F272-6826-F7CF-3AC267049E03}"/>
              </a:ext>
            </a:extLst>
          </p:cNvPr>
          <p:cNvSpPr txBox="1"/>
          <p:nvPr/>
        </p:nvSpPr>
        <p:spPr>
          <a:xfrm>
            <a:off x="495300" y="2537460"/>
            <a:ext cx="45643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О СБОРЪ НА ФЛОТ</a:t>
            </a:r>
          </a:p>
          <a:p>
            <a:r>
              <a:rPr lang="ru-RU" b="1" i="0" dirty="0">
                <a:effectLst/>
                <a:latin typeface="Gabriola" panose="04040605051002020D02" pitchFamily="82" charset="0"/>
              </a:rPr>
              <a:t>В связи с окончанием Северной войны назначается </a:t>
            </a:r>
            <a:r>
              <a:rPr lang="ru-RU" b="1" i="0" dirty="0" err="1">
                <a:effectLst/>
                <a:latin typeface="Gabriola" panose="04040605051002020D02" pitchFamily="82" charset="0"/>
              </a:rPr>
              <a:t>особыйсбор</a:t>
            </a:r>
            <a:r>
              <a:rPr lang="ru-RU" b="1" i="0" dirty="0">
                <a:effectLst/>
                <a:latin typeface="Gabriola" panose="04040605051002020D02" pitchFamily="82" charset="0"/>
              </a:rPr>
              <a:t> на содержание Балтийского флота. Купцы и посадские люди вносят по 5 копеек с рубля оборота. Сбор в Камер-коллегии</a:t>
            </a:r>
            <a:r>
              <a:rPr lang="ru-RU" b="0" i="0" dirty="0">
                <a:solidFill>
                  <a:srgbClr val="FFFFFF"/>
                </a:solidFill>
                <a:effectLst/>
                <a:latin typeface="Roboto"/>
              </a:rPr>
              <a:t>.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340EC7-3247-DABB-DD79-EF57B46AC4EC}"/>
              </a:ext>
            </a:extLst>
          </p:cNvPr>
          <p:cNvSpPr txBox="1"/>
          <p:nvPr/>
        </p:nvSpPr>
        <p:spPr>
          <a:xfrm>
            <a:off x="5882640" y="861775"/>
            <a:ext cx="4770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О УЧРЕЖДЕНІЙ ДУХОВНОЙ КОЛЛЕГІЙ</a:t>
            </a:r>
          </a:p>
          <a:p>
            <a:r>
              <a:rPr lang="ru-RU" b="1" i="0" dirty="0">
                <a:effectLst/>
                <a:latin typeface="Gabriola" panose="04040605051002020D02" pitchFamily="82" charset="0"/>
              </a:rPr>
              <a:t>По указу Его Царского Величества учреждается Духовная коллегия для управления церковными делами. Все духовные лица должны явиться для присяги. Ослушников ожидает суд Коллегии.</a:t>
            </a:r>
            <a:endParaRPr lang="ru-RU" b="1" dirty="0">
              <a:latin typeface="Gabriola" panose="04040605051002020D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039DBE-DA28-AED5-CDE8-2CB02DF67E7B}"/>
              </a:ext>
            </a:extLst>
          </p:cNvPr>
          <p:cNvSpPr txBox="1"/>
          <p:nvPr/>
        </p:nvSpPr>
        <p:spPr>
          <a:xfrm>
            <a:off x="5943600" y="2537460"/>
            <a:ext cx="45643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Gabriola" panose="04040605051002020D02" pitchFamily="82" charset="0"/>
              </a:rPr>
              <a:t>ТОРГОВЫЯ ВЪСТИ </a:t>
            </a:r>
          </a:p>
          <a:p>
            <a:r>
              <a:rPr lang="ru-RU" b="1" i="0" dirty="0">
                <a:effectLst/>
                <a:latin typeface="Gabriola" panose="04040605051002020D02" pitchFamily="82" charset="0"/>
              </a:rPr>
              <a:t>Табак виргинский - первый сорт, по 12 копеек фунт </a:t>
            </a:r>
          </a:p>
          <a:p>
            <a:r>
              <a:rPr lang="ru-RU" b="1" i="0" dirty="0">
                <a:effectLst/>
                <a:latin typeface="Gabriola" panose="04040605051002020D02" pitchFamily="82" charset="0"/>
              </a:rPr>
              <a:t>Сукно английское - алое и зеленое, по 3 рубля аршин </a:t>
            </a:r>
          </a:p>
          <a:p>
            <a:r>
              <a:rPr lang="ru-RU" b="1" i="0" dirty="0">
                <a:effectLst/>
                <a:latin typeface="Gabriola" panose="04040605051002020D02" pitchFamily="82" charset="0"/>
              </a:rPr>
              <a:t>Вина французские - бургундское и шампанское, от 5 рублей ведро </a:t>
            </a:r>
          </a:p>
          <a:p>
            <a:r>
              <a:rPr lang="ru-RU" b="1" i="0" dirty="0">
                <a:effectLst/>
                <a:latin typeface="Gabriola" panose="04040605051002020D02" pitchFamily="82" charset="0"/>
              </a:rPr>
              <a:t>Книги новые - геометрия и навигация, по 50 копеек том  </a:t>
            </a:r>
          </a:p>
          <a:p>
            <a:r>
              <a:rPr lang="ru-RU" b="1" i="0" dirty="0">
                <a:effectLst/>
                <a:latin typeface="Gabriola" panose="04040605051002020D02" pitchFamily="82" charset="0"/>
              </a:rPr>
              <a:t>Рыба соленая - семга и белуга, по 80 копеек пуд </a:t>
            </a:r>
          </a:p>
          <a:p>
            <a:r>
              <a:rPr lang="ru-RU" b="1" i="0" dirty="0">
                <a:effectLst/>
                <a:latin typeface="Gabriola" panose="04040605051002020D02" pitchFamily="82" charset="0"/>
              </a:rPr>
              <a:t>Железо уральское - первая выделка, по 35 копеек пуд</a:t>
            </a:r>
            <a:endParaRPr lang="ru-RU" b="1" dirty="0">
              <a:latin typeface="Gabriola" panose="04040605051002020D02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CF37CE-A333-751E-B751-9BA3B337F431}"/>
              </a:ext>
            </a:extLst>
          </p:cNvPr>
          <p:cNvSpPr txBox="1"/>
          <p:nvPr/>
        </p:nvSpPr>
        <p:spPr>
          <a:xfrm>
            <a:off x="3535680" y="6196280"/>
            <a:ext cx="5120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0" dirty="0">
                <a:effectLst/>
                <a:latin typeface="Gabriola" panose="04040605051002020D02" pitchFamily="82" charset="0"/>
              </a:rPr>
              <a:t>Торг у Гостиного двора ежедневно. Цены твердые.</a:t>
            </a:r>
            <a:endParaRPr lang="ru-RU" sz="2000" b="1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568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1022</Words>
  <Application>Microsoft Office PowerPoint</Application>
  <PresentationFormat>Широкоэкранный</PresentationFormat>
  <Paragraphs>80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Gabriola</vt:lpstr>
      <vt:lpstr>Roboto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XFiles</dc:creator>
  <cp:lastModifiedBy>XFiles</cp:lastModifiedBy>
  <cp:revision>1</cp:revision>
  <dcterms:created xsi:type="dcterms:W3CDTF">2025-10-14T19:32:11Z</dcterms:created>
  <dcterms:modified xsi:type="dcterms:W3CDTF">2025-10-14T21:49:40Z</dcterms:modified>
</cp:coreProperties>
</file>