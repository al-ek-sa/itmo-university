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C6D998-EC7E-3360-433B-CD3BFD0273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329542D-C981-34E5-0B8C-2E6494F522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5937EF0-3F71-A425-6FCC-03202885C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DBF6C-4B19-42BF-9EF0-8ED036E1C289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E4EB83-A90F-3758-AAA9-C5AD0D23C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ABE16A-2952-9388-F59F-2DFE9F654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884FC-7620-47E3-8688-AF140E174C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3512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0C0DF3-CBDF-E7CC-0BB1-0A6240D25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9A9A87-A0FE-03C4-5868-05F92C7DA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1B54444-65F7-E7DF-B772-2BCDA0766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DBF6C-4B19-42BF-9EF0-8ED036E1C289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E9CD46-C71F-F2F6-1D7B-7540B0A60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C4FBEB-09A4-99C3-3298-3F24235AF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884FC-7620-47E3-8688-AF140E174C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3279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1F21B5-BB1D-3157-A5C0-01DA615EC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1DB6CBD-EBCC-B407-7042-1CC0E0376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AF22AD-1ABF-CC2F-9639-22CB08C6E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DBF6C-4B19-42BF-9EF0-8ED036E1C289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EB93F1-55A8-A61F-1A3E-820C2D050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648C5C-8F65-07AF-F0C1-A8D0A9AD3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884FC-7620-47E3-8688-AF140E174C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4919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923BAB-FF0B-ABA1-7C4D-7C6621C83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2BAB9C-D2AC-CDE3-3E6C-109A4C9DA6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52EB2F1-78FF-F532-C1B3-F4A5D5A79F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014235-A502-1689-B2AA-CCEBDC194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DBF6C-4B19-42BF-9EF0-8ED036E1C289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0F6B71D-9A70-C9BC-52B0-9056E8BD6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4AB22DB-9D25-07F5-B491-2B4AE1060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884FC-7620-47E3-8688-AF140E174C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3348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6F6496-66C9-EF4C-18B5-A5C82E4AF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62B26E7-C0D5-9F87-2B46-42C424180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58AFA44-B8F0-AC49-79A3-7EC9FD5D3E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48A40C4-A96F-D7A8-8C94-99A5090845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CA77B63-79AA-3FE9-39A9-BE1C7C96B2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AC6FB7E-9281-A879-8342-C9B57C462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DBF6C-4B19-42BF-9EF0-8ED036E1C289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BF1A2B2-7124-C41C-E1E7-231820B97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5B77644-16E0-5B08-7C68-FAF988268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884FC-7620-47E3-8688-AF140E174C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419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D50A2F-C67B-0F33-82DD-7BC048AFE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48710FB-99B0-D9DC-B8C7-A1544D114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DBF6C-4B19-42BF-9EF0-8ED036E1C289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BA72D58-B8C1-2B4C-94A1-ED67A5D76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6DB2D05-68F5-33CE-6252-9EFE125A9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884FC-7620-47E3-8688-AF140E174C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0391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8629A93-26D8-BC20-967C-16181D631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DBF6C-4B19-42BF-9EF0-8ED036E1C289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2C3B468-772A-A853-4D2C-9BF8C577A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AB1725-FA22-C17A-70A9-E975922FC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884FC-7620-47E3-8688-AF140E174C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0260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A372A0-467E-73DB-39F0-C7441B171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4C1788-A443-3B80-5CF9-A286D23B2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AD83C0E-1E26-35E7-5567-0E37D2252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B90C34A-FA7C-143F-628F-E91D79584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DBF6C-4B19-42BF-9EF0-8ED036E1C289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D148180-3056-37FD-DCEC-18C7F1904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7B708D7-43A2-03B3-93B2-BDDF977E6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884FC-7620-47E3-8688-AF140E174C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4664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6F8214-0770-C713-77A5-5D7045F43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D09E06F-2DED-FEF2-1FA2-B6EC4A9B3D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C5A9827-11E8-7306-22FF-6D3F696854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68CDE70-7AC5-44A8-DF6B-0A5D9FB85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DBF6C-4B19-42BF-9EF0-8ED036E1C289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D3AB8E1-0E37-9D76-ADBB-19366F635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2FB88B3-3800-1577-4091-8B03EDD38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884FC-7620-47E3-8688-AF140E174C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6875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87EB91-F369-EF54-4C60-319FE06ED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A4C519E-98F2-10CB-EA44-1C32A1314F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1253A9-BE18-F686-80EE-8CF28623D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DBF6C-4B19-42BF-9EF0-8ED036E1C289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D8AFEE-C8D7-5611-9148-AAFFAC32F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F8C48F-017A-0FAF-5ACD-5E82396B7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884FC-7620-47E3-8688-AF140E174C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6924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1F66622-5847-C6CD-8918-384B081874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9091179-3A93-55F8-2DED-F5859E169E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6CB08CC-6F56-7517-928A-5F90FF4CB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DBF6C-4B19-42BF-9EF0-8ED036E1C289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B67323-0C1A-5576-20EB-AB3C6CD61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B7FFEB-B594-86CB-4AD3-1F0B6BB28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884FC-7620-47E3-8688-AF140E174C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9098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F3884C-C122-FBAD-2FBA-9E104B53F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DEFD9A1-D2BE-6CEB-8518-63CC99590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77B251-AB89-C3C9-4DA5-07A7C0EB28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DDBF6C-4B19-42BF-9EF0-8ED036E1C289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965F3D4-204A-8E51-4B05-5005906862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61F648-7D2C-788E-0FD6-B17F728AD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5884FC-7620-47E3-8688-AF140E174C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2983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F67B3A-38F8-7295-78C2-26B00CD755CA}"/>
              </a:ext>
            </a:extLst>
          </p:cNvPr>
          <p:cNvSpPr txBox="1"/>
          <p:nvPr/>
        </p:nvSpPr>
        <p:spPr>
          <a:xfrm rot="16200000">
            <a:off x="2929116" y="2875002"/>
            <a:ext cx="63337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600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Смутное время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7D7837-A486-DA76-0EAC-2FEBCB12314D}"/>
              </a:ext>
            </a:extLst>
          </p:cNvPr>
          <p:cNvSpPr txBox="1"/>
          <p:nvPr/>
        </p:nvSpPr>
        <p:spPr>
          <a:xfrm>
            <a:off x="31610" y="82534"/>
            <a:ext cx="369571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Иван Грозный (1530-1584)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Укрепление самодержавия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Экономический кризис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Усиление закрепощения крестьян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Социальный раскол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Увеличение территории страны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E1E812-83B0-0D3E-3A29-C79B388FDBF1}"/>
              </a:ext>
            </a:extLst>
          </p:cNvPr>
          <p:cNvSpPr txBox="1"/>
          <p:nvPr/>
        </p:nvSpPr>
        <p:spPr>
          <a:xfrm>
            <a:off x="1798950" y="1682972"/>
            <a:ext cx="39887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Федор Иоаннович (1584-1598)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Завершение Ливонской войны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Фактически вся власть сосредоточена в руках Бориса Годунова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Строительство церковных храмов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Учреждение патриаршества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4831F2E7-0CF1-8544-54D4-098C486B92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50" t="-1138" r="12684" b="1"/>
          <a:stretch/>
        </p:blipFill>
        <p:spPr bwMode="auto">
          <a:xfrm>
            <a:off x="3811979" y="82534"/>
            <a:ext cx="1982027" cy="164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BEA59E4E-DEFA-2C3D-A290-033CCD1AD6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02" y="1682972"/>
            <a:ext cx="1644208" cy="1644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795070A5-A825-B8CA-4C8C-6F0E7B730D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77" r="4894"/>
          <a:stretch/>
        </p:blipFill>
        <p:spPr bwMode="auto">
          <a:xfrm>
            <a:off x="3808710" y="3325074"/>
            <a:ext cx="1988564" cy="1644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1AD6E5-F2C9-0F39-7178-081FC6B2B825}"/>
              </a:ext>
            </a:extLst>
          </p:cNvPr>
          <p:cNvSpPr txBox="1"/>
          <p:nvPr/>
        </p:nvSpPr>
        <p:spPr>
          <a:xfrm>
            <a:off x="0" y="3404705"/>
            <a:ext cx="390506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Борис Годунов (1598-1605)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Поддержка церкви, снижение налогов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Реформы в сфере культуры и образования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Запрет спекуляции продуктами питания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Обвинения со стороны народа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28183F-C0C8-F193-551D-9B2416467549}"/>
              </a:ext>
            </a:extLst>
          </p:cNvPr>
          <p:cNvSpPr txBox="1"/>
          <p:nvPr/>
        </p:nvSpPr>
        <p:spPr>
          <a:xfrm>
            <a:off x="1798950" y="5076730"/>
            <a:ext cx="390506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Лжедмитрий 1 (1605-1606)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Без особых усилий дошёл до Москвы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Молниеносно обрел поддержку народа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Утратил популярность в связи со свадьбой с полькой Мариной Мнишек</a:t>
            </a:r>
          </a:p>
        </p:txBody>
      </p:sp>
      <p:pic>
        <p:nvPicPr>
          <p:cNvPr id="1032" name="Picture 8" descr="Picture background">
            <a:extLst>
              <a:ext uri="{FF2B5EF4-FFF2-40B4-BE49-F238E27FC236}">
                <a16:creationId xmlns:a16="http://schemas.microsoft.com/office/drawing/2014/main" id="{B018A9F7-3676-4412-A90B-3C80298BE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25" y="5084774"/>
            <a:ext cx="1639485" cy="1419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7F01B8-4A27-36F5-668C-6C7783CBF391}"/>
              </a:ext>
            </a:extLst>
          </p:cNvPr>
          <p:cNvSpPr txBox="1"/>
          <p:nvPr/>
        </p:nvSpPr>
        <p:spPr>
          <a:xfrm>
            <a:off x="6472052" y="46908"/>
            <a:ext cx="40672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Василий Шуйский (1606-1610)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Сверг с престола и убил Лжедмитрия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Увеличил срок сыска беглых крестьян до 15 лет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Восстание Ивана Болотникова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Начало войны с Речью Посполитой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Низложен с престола и пострижен в монахи</a:t>
            </a:r>
          </a:p>
        </p:txBody>
      </p:sp>
      <p:pic>
        <p:nvPicPr>
          <p:cNvPr id="1034" name="Picture 10" descr="Picture background">
            <a:extLst>
              <a:ext uri="{FF2B5EF4-FFF2-40B4-BE49-F238E27FC236}">
                <a16:creationId xmlns:a16="http://schemas.microsoft.com/office/drawing/2014/main" id="{1FA5420A-5D2D-E6E3-7D20-DA2C88705F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10" r="17752"/>
          <a:stretch/>
        </p:blipFill>
        <p:spPr bwMode="auto">
          <a:xfrm>
            <a:off x="10427484" y="82534"/>
            <a:ext cx="1657114" cy="1815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icture background">
            <a:extLst>
              <a:ext uri="{FF2B5EF4-FFF2-40B4-BE49-F238E27FC236}">
                <a16:creationId xmlns:a16="http://schemas.microsoft.com/office/drawing/2014/main" id="{96F87026-84C0-6936-6821-ED0F2EB37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847" y="1875367"/>
            <a:ext cx="1730897" cy="1936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6FB5A6-6766-60C6-A1E4-C3BE99573F4A}"/>
              </a:ext>
            </a:extLst>
          </p:cNvPr>
          <p:cNvSpPr txBox="1"/>
          <p:nvPr/>
        </p:nvSpPr>
        <p:spPr>
          <a:xfrm>
            <a:off x="8380020" y="1900409"/>
            <a:ext cx="370457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Лжедмитрий 2 (1607-1610)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По сути создал двоевластие, чем ещё больше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разделил страну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i="0" dirty="0">
                <a:solidFill>
                  <a:schemeClr val="accent2">
                    <a:lumMod val="50000"/>
                  </a:schemeClr>
                </a:solidFill>
                <a:effectLst/>
                <a:latin typeface="Comic Sans MS" panose="030F0702030302020204" pitchFamily="66" charset="0"/>
              </a:rPr>
              <a:t>На рубеже 1609–1610 годов Тушинский лагерь распался, самозванец бежал в Калугу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i="0" dirty="0">
                <a:solidFill>
                  <a:schemeClr val="accent2">
                    <a:lumMod val="50000"/>
                  </a:schemeClr>
                </a:solidFill>
                <a:effectLst/>
                <a:latin typeface="Comic Sans MS" panose="030F0702030302020204" pitchFamily="66" charset="0"/>
              </a:rPr>
              <a:t>11 (21) декабря 1610 года Лжедмитрий II был убит князем П. А. Урусовым</a:t>
            </a:r>
            <a:endParaRPr lang="ru-RU" sz="1400" dirty="0">
              <a:solidFill>
                <a:schemeClr val="accent2">
                  <a:lumMod val="50000"/>
                </a:schemeClr>
              </a:solidFill>
              <a:latin typeface="Comic Sans MS" panose="030F0702030302020204" pitchFamily="66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A8FAFB0-1C21-55B3-072F-36541DD7E2E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9004" r="14616"/>
          <a:stretch/>
        </p:blipFill>
        <p:spPr>
          <a:xfrm>
            <a:off x="9857858" y="4307910"/>
            <a:ext cx="2222017" cy="22251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5312C68-F6E2-A1C5-D12E-963C7FBD3380}"/>
              </a:ext>
            </a:extLst>
          </p:cNvPr>
          <p:cNvSpPr txBox="1"/>
          <p:nvPr/>
        </p:nvSpPr>
        <p:spPr>
          <a:xfrm>
            <a:off x="6661847" y="4184797"/>
            <a:ext cx="314717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Михаил Романов (1613-1645)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i="0" dirty="0">
                <a:solidFill>
                  <a:schemeClr val="accent2">
                    <a:lumMod val="50000"/>
                  </a:schemeClr>
                </a:solidFill>
                <a:effectLst/>
                <a:latin typeface="Comic Sans MS" panose="030F0702030302020204" pitchFamily="66" charset="0"/>
              </a:rPr>
              <a:t>В первые годы царствования (1613–1619) реальная власть находилась у матери Михаила и её родни из бояр Салтыковых</a:t>
            </a:r>
            <a:endParaRPr lang="ru-RU" sz="1400" dirty="0">
              <a:solidFill>
                <a:schemeClr val="accent2">
                  <a:lumMod val="50000"/>
                </a:schemeClr>
              </a:solidFill>
              <a:latin typeface="Comic Sans MS" panose="030F0702030302020204" pitchFamily="66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Был избран новым царём, что означало окончание Смутного Времени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Новая царская династия - Романовы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63EF6D-7158-EF24-71B9-77C58413F098}"/>
              </a:ext>
            </a:extLst>
          </p:cNvPr>
          <p:cNvSpPr txBox="1"/>
          <p:nvPr/>
        </p:nvSpPr>
        <p:spPr>
          <a:xfrm>
            <a:off x="0" y="6595884"/>
            <a:ext cx="44591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*В скобках указаны даты правления</a:t>
            </a:r>
          </a:p>
        </p:txBody>
      </p:sp>
    </p:spTree>
    <p:extLst>
      <p:ext uri="{BB962C8B-B14F-4D97-AF65-F5344CB8AC3E}">
        <p14:creationId xmlns:p14="http://schemas.microsoft.com/office/powerpoint/2010/main" val="286939642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213</Words>
  <Application>Microsoft Office PowerPoint</Application>
  <PresentationFormat>Широкоэкранный</PresentationFormat>
  <Paragraphs>37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Comic Sans MS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XFiles</dc:creator>
  <cp:lastModifiedBy>XFiles</cp:lastModifiedBy>
  <cp:revision>1</cp:revision>
  <dcterms:created xsi:type="dcterms:W3CDTF">2025-09-29T12:03:21Z</dcterms:created>
  <dcterms:modified xsi:type="dcterms:W3CDTF">2025-09-29T12:13:20Z</dcterms:modified>
</cp:coreProperties>
</file>